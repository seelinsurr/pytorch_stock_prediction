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45" y="3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8758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Sayın Hocam, projemizin ilk aşamasında finans dünyasında rasyonel kararlar alabilmenin temelini oluşturan Keşifçi Veri Analizi'ni (EDA) gerçekleştirdim. Bugün sizlere bu çalışmada 'Ne Yaptım' ve 'Ne Öğrendim' sorularını temel alarak sade, akademik ve sonuç odaklı bir sunum gerçekleştireceğim.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Sayın Hocam, projemizin ilk aşamasında finans dünyasında rasyonel kararlar alabilmenin temelini oluşturan Keşifçi Veri Analizi'ni (EDA) gerçekleştirdim. Yahoo Finance üzerinden çektiğim teknoloji liderlerinin verilerinde sadece ham fiyat hareketlerini değil, işlem hacmi ve günlük yüzdesel getirileri de inceledim. Bu süreçte teknik göstergelerden hareketli ortalamaları test ettiğimde, 10 ve 20 günlük pencerelerin kısa vadeli gürültüleri temizlemede en başarılı sonuçları verdiğini gördüm. Ayrıca, hisselerin borsa hareketlerinde birbirleriyle pozitif korelasyon gösterdiklerini ve en güçlü doğrusal ilişkinin Microsoft ile Amazon arasında gerçekleştiğini istatistiksel olarak doğrulayarak sağda gördüğünüz risk-getiri grafiğini modelledim.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Hocam, veri analizinin ardından ham veriyi derin öğrenme modeline besleyebilmek için PyTorch tabanlı bir veri hazırlığı süreci yürüttüm. Apple'ın 2012'den beri biriken tarihsel verilerini kararlı eğitebilmek için öncelikle 0 ve 1 arasına normalize ettim. Zaman serilerinin doğası gereği, modelin bugünkü fiyatı tahmin ederken geçmişten beslenmesi gerekir; bu yüzden 60 günlük bir geçmiş pencere uzunluğu kurguladım. PyTorch ekosisteminde verileri tensörlere çevirip, işlem hızını artırmak için batch_size=16 olacak şekilde bir DataLoader yapısı kurdum. Bu sayede hem modelin bellek optimizasyonunu sağladım hem de PyTorch'un düşük seviyeli veri manipülasyonu yeteneklerini derinlemesine öğrenmiş oldum.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 mimarisi aşamasında, borsa verilerinin taşıdığı uzun vadeli zaman bağımlılıklarını modellemek için LSTM ve GRU mimarilerini karşılaştırmalı olarak analiz ettim. PyTorch'ta inşa ettiğim modelde 128 ve 64 gizli hücreli ardışık katmanlar kullandım. Teknik olarak edindiğim en önemli çıkarım, bu iki mimarinin kapı yapıları ve hesaplama karmaşıklıkları arasındaki farklar oldu. LSTM, sahip olduğu 'hücre durumu' (cell state) sayesinde geçmiş borsa döngülerini unutmadan çok başarılı bir şekilde hafızasında tutuyor. Sağda gördüğünüz üzere gerçek hisse senedi fiyat hareketiyle modelimizin tahmin trendi oldukça paralel ilerliyor. GRU ise bu hücre durumunu kaldırıp parametre sayısını azalttığı için daha hızlı bir eğitim performansı sunuyor. Bu karşılaştırma, bana finansal tahminlerde mimari seçimi yaparken zaman ve performans arasındaki hassas dengeyi gösterdi.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Sonuç olarak bu proje, bana akademik ve pratik anlamda çok önemli kazanımlar sağladı. Sınıfta teorik olarak ele aldığımız yapay zeka kavramlarının, gerçek borsa verileriyle birleştiğinde nasıl canlandığını gördüm. Derin öğrenme projelerinde başarının sadece model yazmaktan geçmediğini, veri ön işlemenin ve hiperparametre optimizasyonunun en az modelin kendisi kadar hayati olduğunu öğrendim. Gelecekte bu çalışmayı daha ileriye taşımak adına, modele teknik indikatörleri ve işlem hacmini de ekleyerek çok değişkenli bir yapı kurmayı ve epoch sayısını artırarak tahmin performansını minimize etmeyi hedefliyorum. Beni dinlediğiniz için teşekkür eder, sorularınızı yanıtlamaktan memnuniyet duyarım.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222D"/>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32720" cy="3067506"/>
          </a:xfrm>
          <a:prstGeom prst="rect">
            <a:avLst/>
          </a:prstGeom>
          <a:noFill/>
        </p:spPr>
        <p:txBody>
          <a:bodyPr wrap="square" lIns="0" tIns="0" rIns="0" bIns="0">
            <a:spAutoFit/>
          </a:bodyPr>
          <a:lstStyle/>
          <a:p>
            <a:pPr>
              <a:spcAft>
                <a:spcPts val="1400"/>
              </a:spcAft>
              <a:defRPr sz="3600" b="1">
                <a:solidFill>
                  <a:srgbClr val="FAF9F6"/>
                </a:solidFill>
                <a:latin typeface="Georgia"/>
              </a:defRPr>
            </a:pPr>
            <a:r>
              <a:rPr sz="4000" dirty="0"/>
              <a:t>Büyük </a:t>
            </a:r>
            <a:r>
              <a:rPr sz="4000" dirty="0" err="1"/>
              <a:t>Teknoloji</a:t>
            </a:r>
            <a:r>
              <a:rPr sz="4000" dirty="0"/>
              <a:t> </a:t>
            </a:r>
            <a:r>
              <a:rPr sz="4000" dirty="0" err="1"/>
              <a:t>Hisselerinin</a:t>
            </a:r>
            <a:r>
              <a:rPr sz="4000" dirty="0"/>
              <a:t> Zaman </a:t>
            </a:r>
            <a:r>
              <a:rPr sz="4000" dirty="0" err="1"/>
              <a:t>Serisi</a:t>
            </a:r>
            <a:r>
              <a:rPr sz="4000" dirty="0"/>
              <a:t> </a:t>
            </a:r>
            <a:r>
              <a:rPr sz="4000" dirty="0" err="1"/>
              <a:t>Analizi</a:t>
            </a:r>
            <a:r>
              <a:rPr sz="4000" dirty="0"/>
              <a:t> </a:t>
            </a:r>
            <a:r>
              <a:rPr sz="4000" dirty="0" err="1"/>
              <a:t>ve</a:t>
            </a:r>
            <a:r>
              <a:rPr sz="4000" dirty="0"/>
              <a:t> Derin </a:t>
            </a:r>
            <a:r>
              <a:rPr sz="4000" dirty="0" err="1"/>
              <a:t>Öğrenme</a:t>
            </a:r>
            <a:r>
              <a:rPr sz="4000" dirty="0"/>
              <a:t> </a:t>
            </a:r>
            <a:r>
              <a:rPr sz="4000" dirty="0" err="1"/>
              <a:t>ile</a:t>
            </a:r>
            <a:r>
              <a:rPr sz="4000" dirty="0"/>
              <a:t> </a:t>
            </a:r>
            <a:r>
              <a:rPr sz="4000" dirty="0" err="1"/>
              <a:t>Fiyat</a:t>
            </a:r>
            <a:r>
              <a:rPr sz="4000" dirty="0"/>
              <a:t> </a:t>
            </a:r>
            <a:r>
              <a:rPr sz="4000" dirty="0" err="1"/>
              <a:t>Tahmini</a:t>
            </a:r>
            <a:endParaRPr lang="en-US" sz="4000" dirty="0"/>
          </a:p>
          <a:p>
            <a:pPr>
              <a:spcAft>
                <a:spcPts val="1400"/>
              </a:spcAft>
              <a:defRPr sz="3600" b="1">
                <a:solidFill>
                  <a:srgbClr val="FAF9F6"/>
                </a:solidFill>
                <a:latin typeface="Georgia"/>
              </a:defRPr>
            </a:pPr>
            <a:endParaRPr sz="4000" dirty="0"/>
          </a:p>
          <a:p>
            <a:pPr>
              <a:defRPr sz="1200">
                <a:solidFill>
                  <a:srgbClr val="606F7B"/>
                </a:solidFill>
                <a:latin typeface="Verdana"/>
              </a:defRPr>
            </a:pPr>
            <a:r>
              <a:rPr sz="1600" b="1" dirty="0" err="1">
                <a:solidFill>
                  <a:schemeClr val="accent1">
                    <a:lumMod val="40000"/>
                    <a:lumOff val="60000"/>
                  </a:schemeClr>
                </a:solidFill>
              </a:rPr>
              <a:t>Hazırlayan</a:t>
            </a:r>
            <a:r>
              <a:rPr sz="1600" b="1" dirty="0">
                <a:solidFill>
                  <a:schemeClr val="accent1">
                    <a:lumMod val="40000"/>
                    <a:lumOff val="60000"/>
                  </a:schemeClr>
                </a:solidFill>
              </a:rPr>
              <a:t>: </a:t>
            </a:r>
            <a:r>
              <a:rPr lang="en-US" sz="1600" b="1" dirty="0">
                <a:solidFill>
                  <a:schemeClr val="accent1">
                    <a:lumMod val="40000"/>
                    <a:lumOff val="60000"/>
                  </a:schemeClr>
                </a:solidFill>
              </a:rPr>
              <a:t>Selinay Sur</a:t>
            </a:r>
            <a:r>
              <a:rPr sz="1600" b="1" dirty="0">
                <a:solidFill>
                  <a:schemeClr val="accent1">
                    <a:lumMod val="40000"/>
                    <a:lumOff val="60000"/>
                  </a:schemeClr>
                </a:solidFill>
              </a:rPr>
              <a:t>  |  </a:t>
            </a:r>
            <a:r>
              <a:rPr sz="1600" b="1" dirty="0" err="1">
                <a:solidFill>
                  <a:schemeClr val="accent1">
                    <a:lumMod val="40000"/>
                    <a:lumOff val="60000"/>
                  </a:schemeClr>
                </a:solidFill>
              </a:rPr>
              <a:t>Konu</a:t>
            </a:r>
            <a:r>
              <a:rPr sz="1600" b="1" dirty="0">
                <a:solidFill>
                  <a:schemeClr val="accent1">
                    <a:lumMod val="40000"/>
                    <a:lumOff val="60000"/>
                  </a:schemeClr>
                </a:solidFill>
              </a:rPr>
              <a:t>: EDA, </a:t>
            </a:r>
            <a:r>
              <a:rPr sz="1600" b="1" dirty="0" err="1">
                <a:solidFill>
                  <a:schemeClr val="accent1">
                    <a:lumMod val="40000"/>
                    <a:lumOff val="60000"/>
                  </a:schemeClr>
                </a:solidFill>
              </a:rPr>
              <a:t>PyTorch</a:t>
            </a:r>
            <a:r>
              <a:rPr sz="1600" b="1" dirty="0">
                <a:solidFill>
                  <a:schemeClr val="accent1">
                    <a:lumMod val="40000"/>
                    <a:lumOff val="60000"/>
                  </a:schemeClr>
                </a:solidFill>
              </a:rPr>
              <a:t>, LSTM </a:t>
            </a:r>
            <a:r>
              <a:rPr sz="1600" b="1" dirty="0" err="1">
                <a:solidFill>
                  <a:schemeClr val="accent1">
                    <a:lumMod val="40000"/>
                    <a:lumOff val="60000"/>
                  </a:schemeClr>
                </a:solidFill>
              </a:rPr>
              <a:t>ve</a:t>
            </a:r>
            <a:r>
              <a:rPr sz="1600" b="1" dirty="0">
                <a:solidFill>
                  <a:schemeClr val="accent1">
                    <a:lumMod val="40000"/>
                    <a:lumOff val="60000"/>
                  </a:schemeClr>
                </a:solidFill>
              </a:rPr>
              <a:t> GRU </a:t>
            </a:r>
            <a:r>
              <a:rPr sz="1600" b="1" dirty="0" err="1">
                <a:solidFill>
                  <a:schemeClr val="accent1">
                    <a:lumMod val="40000"/>
                    <a:lumOff val="60000"/>
                  </a:schemeClr>
                </a:solidFill>
              </a:rPr>
              <a:t>Karşılaştırması</a:t>
            </a:r>
            <a:endParaRPr sz="1600" b="1" dirty="0">
              <a:solidFill>
                <a:schemeClr val="accent1">
                  <a:lumMod val="40000"/>
                  <a:lumOff val="6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Arc 13">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extBox 1"/>
          <p:cNvSpPr txBox="1"/>
          <p:nvPr/>
        </p:nvSpPr>
        <p:spPr>
          <a:xfrm>
            <a:off x="5894962" y="479493"/>
            <a:ext cx="5458838" cy="1325563"/>
          </a:xfrm>
          <a:prstGeom prst="rect">
            <a:avLst/>
          </a:prstGeom>
        </p:spPr>
        <p:txBody>
          <a:bodyPr vert="horz" lIns="91440" tIns="45720" rIns="91440" bIns="45720" rtlCol="0" anchor="ctr">
            <a:normAutofit/>
          </a:bodyPr>
          <a:lstStyle/>
          <a:p>
            <a:pPr defTabSz="914400">
              <a:lnSpc>
                <a:spcPct val="90000"/>
              </a:lnSpc>
              <a:spcBef>
                <a:spcPct val="0"/>
              </a:spcBef>
              <a:spcAft>
                <a:spcPts val="600"/>
              </a:spcAft>
              <a:defRPr sz="2800" b="1">
                <a:solidFill>
                  <a:srgbClr val="222D32"/>
                </a:solidFill>
                <a:latin typeface="Georgia"/>
              </a:defRPr>
            </a:pPr>
            <a:r>
              <a:rPr lang="en-US" sz="3700" kern="1200">
                <a:solidFill>
                  <a:schemeClr val="tx1"/>
                </a:solidFill>
                <a:latin typeface="+mj-lt"/>
                <a:ea typeface="+mj-ea"/>
                <a:cs typeface="+mj-cs"/>
              </a:rPr>
              <a:t>1. Keşifçi Veri Analizi (EDA) ve Finansal Bulgular</a:t>
            </a:r>
          </a:p>
        </p:txBody>
      </p:sp>
      <p:sp>
        <p:nvSpPr>
          <p:cNvPr id="16" name="Freeform: Shape 15">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07891C22-7C26-3446-EA09-D63C610A8456}"/>
              </a:ext>
            </a:extLst>
          </p:cNvPr>
          <p:cNvPicPr>
            <a:picLocks noChangeAspect="1"/>
          </p:cNvPicPr>
          <p:nvPr/>
        </p:nvPicPr>
        <p:blipFill>
          <a:blip r:embed="rId3"/>
          <a:stretch>
            <a:fillRect/>
          </a:stretch>
        </p:blipFill>
        <p:spPr>
          <a:xfrm>
            <a:off x="95857" y="1780293"/>
            <a:ext cx="5561140" cy="3152633"/>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4" name="TextBox 3"/>
          <p:cNvSpPr txBox="1"/>
          <p:nvPr/>
        </p:nvSpPr>
        <p:spPr>
          <a:xfrm>
            <a:off x="5894962" y="1984443"/>
            <a:ext cx="5458838" cy="4192520"/>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defRPr sz="2000" b="1">
                <a:solidFill>
                  <a:srgbClr val="008080"/>
                </a:solidFill>
                <a:latin typeface="Georgia"/>
              </a:defRPr>
            </a:pPr>
            <a:r>
              <a:rPr lang="en-US" dirty="0"/>
              <a:t>Ne </a:t>
            </a:r>
            <a:r>
              <a:rPr lang="en-US" dirty="0" err="1"/>
              <a:t>Yaptım</a:t>
            </a:r>
            <a:r>
              <a:rPr lang="en-US" dirty="0"/>
              <a:t>?</a:t>
            </a:r>
          </a:p>
          <a:p>
            <a:pPr indent="-228600" defTabSz="914400">
              <a:lnSpc>
                <a:spcPct val="90000"/>
              </a:lnSpc>
              <a:spcAft>
                <a:spcPts val="400"/>
              </a:spcAft>
              <a:buFont typeface="Arial" panose="020B0604020202020204" pitchFamily="34" charset="0"/>
              <a:buChar char="•"/>
              <a:defRPr sz="1300">
                <a:solidFill>
                  <a:srgbClr val="222D32"/>
                </a:solidFill>
                <a:latin typeface="Verdana"/>
              </a:defRPr>
            </a:pPr>
            <a:r>
              <a:rPr lang="en-US" dirty="0"/>
              <a:t>• </a:t>
            </a:r>
            <a:r>
              <a:rPr lang="en-US" dirty="0" err="1"/>
              <a:t>yfinance</a:t>
            </a:r>
            <a:r>
              <a:rPr lang="en-US" dirty="0"/>
              <a:t> </a:t>
            </a:r>
            <a:r>
              <a:rPr lang="en-US" dirty="0" err="1"/>
              <a:t>API'si</a:t>
            </a:r>
            <a:r>
              <a:rPr lang="en-US" dirty="0"/>
              <a:t> </a:t>
            </a:r>
            <a:r>
              <a:rPr lang="en-US" dirty="0" err="1"/>
              <a:t>ile</a:t>
            </a:r>
            <a:r>
              <a:rPr lang="en-US" dirty="0"/>
              <a:t> Apple, Google, Microsoft </a:t>
            </a:r>
            <a:r>
              <a:rPr lang="en-US" dirty="0" err="1"/>
              <a:t>ve</a:t>
            </a:r>
            <a:r>
              <a:rPr lang="en-US" dirty="0"/>
              <a:t> </a:t>
            </a:r>
            <a:r>
              <a:rPr lang="en-US" dirty="0" err="1"/>
              <a:t>Amazon'un</a:t>
            </a:r>
            <a:r>
              <a:rPr lang="en-US" dirty="0"/>
              <a:t> </a:t>
            </a:r>
            <a:r>
              <a:rPr lang="en-US" dirty="0" err="1"/>
              <a:t>borsa</a:t>
            </a:r>
            <a:r>
              <a:rPr lang="en-US" dirty="0"/>
              <a:t> </a:t>
            </a:r>
            <a:r>
              <a:rPr lang="en-US" dirty="0" err="1"/>
              <a:t>verilerini</a:t>
            </a:r>
            <a:r>
              <a:rPr lang="en-US" dirty="0"/>
              <a:t> </a:t>
            </a:r>
            <a:r>
              <a:rPr lang="en-US" dirty="0" err="1"/>
              <a:t>çekip</a:t>
            </a:r>
            <a:r>
              <a:rPr lang="en-US" dirty="0"/>
              <a:t> </a:t>
            </a:r>
            <a:r>
              <a:rPr lang="en-US" dirty="0" err="1"/>
              <a:t>temizledim</a:t>
            </a:r>
            <a:r>
              <a:rPr lang="en-US" dirty="0"/>
              <a:t>.</a:t>
            </a:r>
          </a:p>
          <a:p>
            <a:pPr indent="-228600" defTabSz="914400">
              <a:lnSpc>
                <a:spcPct val="90000"/>
              </a:lnSpc>
              <a:spcAft>
                <a:spcPts val="400"/>
              </a:spcAft>
              <a:buFont typeface="Arial" panose="020B0604020202020204" pitchFamily="34" charset="0"/>
              <a:buChar char="•"/>
              <a:defRPr sz="1300">
                <a:solidFill>
                  <a:srgbClr val="222D32"/>
                </a:solidFill>
                <a:latin typeface="Verdana"/>
              </a:defRPr>
            </a:pPr>
            <a:r>
              <a:rPr lang="en-US" dirty="0"/>
              <a:t>• </a:t>
            </a:r>
            <a:r>
              <a:rPr lang="en-US" dirty="0" err="1"/>
              <a:t>Günlük</a:t>
            </a:r>
            <a:r>
              <a:rPr lang="en-US" dirty="0"/>
              <a:t> </a:t>
            </a:r>
            <a:r>
              <a:rPr lang="en-US" dirty="0" err="1"/>
              <a:t>kapanış</a:t>
            </a:r>
            <a:r>
              <a:rPr lang="en-US" dirty="0"/>
              <a:t> </a:t>
            </a:r>
            <a:r>
              <a:rPr lang="en-US" dirty="0" err="1"/>
              <a:t>fiyatları</a:t>
            </a:r>
            <a:r>
              <a:rPr lang="en-US" dirty="0"/>
              <a:t>, </a:t>
            </a:r>
            <a:r>
              <a:rPr lang="en-US" dirty="0" err="1"/>
              <a:t>işlem</a:t>
            </a:r>
            <a:r>
              <a:rPr lang="en-US" dirty="0"/>
              <a:t> </a:t>
            </a:r>
            <a:r>
              <a:rPr lang="en-US" dirty="0" err="1"/>
              <a:t>hacimleri</a:t>
            </a:r>
            <a:r>
              <a:rPr lang="en-US" dirty="0"/>
              <a:t> </a:t>
            </a:r>
            <a:r>
              <a:rPr lang="en-US" dirty="0" err="1"/>
              <a:t>ve</a:t>
            </a:r>
            <a:r>
              <a:rPr lang="en-US" dirty="0"/>
              <a:t> </a:t>
            </a:r>
            <a:r>
              <a:rPr lang="en-US" dirty="0" err="1"/>
              <a:t>günlük</a:t>
            </a:r>
            <a:r>
              <a:rPr lang="en-US" dirty="0"/>
              <a:t> </a:t>
            </a:r>
            <a:r>
              <a:rPr lang="en-US" dirty="0" err="1"/>
              <a:t>yüzdesel</a:t>
            </a:r>
            <a:r>
              <a:rPr lang="en-US" dirty="0"/>
              <a:t> </a:t>
            </a:r>
            <a:r>
              <a:rPr lang="en-US" dirty="0" err="1"/>
              <a:t>getirileri</a:t>
            </a:r>
            <a:r>
              <a:rPr lang="en-US" dirty="0"/>
              <a:t> </a:t>
            </a:r>
            <a:r>
              <a:rPr lang="en-US" dirty="0" err="1"/>
              <a:t>hesapladım</a:t>
            </a:r>
            <a:r>
              <a:rPr lang="en-US" dirty="0"/>
              <a:t>.</a:t>
            </a:r>
          </a:p>
          <a:p>
            <a:pPr indent="-228600" defTabSz="914400">
              <a:lnSpc>
                <a:spcPct val="90000"/>
              </a:lnSpc>
              <a:spcAft>
                <a:spcPts val="400"/>
              </a:spcAft>
              <a:buFont typeface="Arial" panose="020B0604020202020204" pitchFamily="34" charset="0"/>
              <a:buChar char="•"/>
              <a:defRPr sz="1300">
                <a:solidFill>
                  <a:srgbClr val="222D32"/>
                </a:solidFill>
                <a:latin typeface="Verdana"/>
              </a:defRPr>
            </a:pPr>
            <a:r>
              <a:rPr lang="en-US" dirty="0"/>
              <a:t>• Trend </a:t>
            </a:r>
            <a:r>
              <a:rPr lang="en-US" dirty="0" err="1"/>
              <a:t>takibi</a:t>
            </a:r>
            <a:r>
              <a:rPr lang="en-US" dirty="0"/>
              <a:t> </a:t>
            </a:r>
            <a:r>
              <a:rPr lang="en-US" dirty="0" err="1"/>
              <a:t>için</a:t>
            </a:r>
            <a:r>
              <a:rPr lang="en-US" dirty="0"/>
              <a:t> 10, 20 </a:t>
            </a:r>
            <a:r>
              <a:rPr lang="en-US" dirty="0" err="1"/>
              <a:t>ve</a:t>
            </a:r>
            <a:r>
              <a:rPr lang="en-US" dirty="0"/>
              <a:t> 50 </a:t>
            </a:r>
            <a:r>
              <a:rPr lang="en-US" dirty="0" err="1"/>
              <a:t>günlük</a:t>
            </a:r>
            <a:r>
              <a:rPr lang="en-US" dirty="0"/>
              <a:t> </a:t>
            </a:r>
            <a:r>
              <a:rPr lang="en-US" dirty="0" err="1"/>
              <a:t>hareketli</a:t>
            </a:r>
            <a:r>
              <a:rPr lang="en-US" dirty="0"/>
              <a:t> </a:t>
            </a:r>
            <a:r>
              <a:rPr lang="en-US" dirty="0" err="1"/>
              <a:t>ortalamaları</a:t>
            </a:r>
            <a:r>
              <a:rPr lang="en-US" dirty="0"/>
              <a:t> (MA) </a:t>
            </a:r>
            <a:r>
              <a:rPr lang="en-US" dirty="0" err="1"/>
              <a:t>analiz</a:t>
            </a:r>
            <a:r>
              <a:rPr lang="en-US" dirty="0"/>
              <a:t> </a:t>
            </a:r>
            <a:r>
              <a:rPr lang="en-US" dirty="0" err="1"/>
              <a:t>ettim</a:t>
            </a:r>
            <a:r>
              <a:rPr lang="en-US" dirty="0"/>
              <a:t>.</a:t>
            </a:r>
          </a:p>
          <a:p>
            <a:pPr indent="-228600" defTabSz="914400">
              <a:lnSpc>
                <a:spcPct val="90000"/>
              </a:lnSpc>
              <a:spcAft>
                <a:spcPts val="400"/>
              </a:spcAft>
              <a:buFont typeface="Arial" panose="020B0604020202020204" pitchFamily="34" charset="0"/>
              <a:buChar char="•"/>
              <a:defRPr sz="1300">
                <a:solidFill>
                  <a:srgbClr val="222D32"/>
                </a:solidFill>
                <a:latin typeface="Verdana"/>
              </a:defRPr>
            </a:pPr>
            <a:r>
              <a:rPr lang="en-US" dirty="0"/>
              <a:t>• Seaborn </a:t>
            </a:r>
            <a:r>
              <a:rPr lang="en-US" dirty="0" err="1"/>
              <a:t>kütüphanesiyle</a:t>
            </a:r>
            <a:r>
              <a:rPr lang="en-US" dirty="0"/>
              <a:t> </a:t>
            </a:r>
            <a:r>
              <a:rPr lang="en-US" dirty="0" err="1"/>
              <a:t>korelasyon</a:t>
            </a:r>
            <a:r>
              <a:rPr lang="en-US" dirty="0"/>
              <a:t> </a:t>
            </a:r>
            <a:r>
              <a:rPr lang="en-US" dirty="0" err="1"/>
              <a:t>matrisi</a:t>
            </a:r>
            <a:r>
              <a:rPr lang="en-US" dirty="0"/>
              <a:t> </a:t>
            </a:r>
            <a:r>
              <a:rPr lang="en-US" dirty="0" err="1"/>
              <a:t>ve</a:t>
            </a:r>
            <a:r>
              <a:rPr lang="en-US" dirty="0"/>
              <a:t> risk-</a:t>
            </a:r>
            <a:r>
              <a:rPr lang="en-US" dirty="0" err="1"/>
              <a:t>getiri</a:t>
            </a:r>
            <a:r>
              <a:rPr lang="en-US" dirty="0"/>
              <a:t> </a:t>
            </a:r>
            <a:r>
              <a:rPr lang="en-US" dirty="0" err="1"/>
              <a:t>dengesini</a:t>
            </a:r>
            <a:r>
              <a:rPr lang="en-US" dirty="0"/>
              <a:t> </a:t>
            </a:r>
            <a:r>
              <a:rPr lang="en-US" dirty="0" err="1"/>
              <a:t>modeledim</a:t>
            </a:r>
            <a:r>
              <a:rPr lang="en-US" dirty="0"/>
              <a:t>.</a:t>
            </a:r>
          </a:p>
          <a:p>
            <a:pPr indent="-228600" defTabSz="914400">
              <a:lnSpc>
                <a:spcPct val="90000"/>
              </a:lnSpc>
              <a:spcBef>
                <a:spcPts val="1400"/>
              </a:spcBef>
              <a:spcAft>
                <a:spcPts val="600"/>
              </a:spcAft>
              <a:buFont typeface="Arial" panose="020B0604020202020204" pitchFamily="34" charset="0"/>
              <a:buChar char="•"/>
              <a:defRPr sz="2000" b="1">
                <a:solidFill>
                  <a:srgbClr val="008080"/>
                </a:solidFill>
                <a:latin typeface="Georgia"/>
              </a:defRPr>
            </a:pPr>
            <a:r>
              <a:rPr lang="en-US" dirty="0"/>
              <a:t>Ne </a:t>
            </a:r>
            <a:r>
              <a:rPr lang="en-US" dirty="0" err="1"/>
              <a:t>Öğrendim</a:t>
            </a:r>
            <a:r>
              <a:rPr lang="en-US" dirty="0"/>
              <a:t>?</a:t>
            </a:r>
          </a:p>
          <a:p>
            <a:pPr indent="-228600" defTabSz="914400">
              <a:lnSpc>
                <a:spcPct val="90000"/>
              </a:lnSpc>
              <a:spcAft>
                <a:spcPts val="400"/>
              </a:spcAft>
              <a:buFont typeface="Arial" panose="020B0604020202020204" pitchFamily="34" charset="0"/>
              <a:buChar char="•"/>
              <a:defRPr sz="1300">
                <a:solidFill>
                  <a:srgbClr val="222D32"/>
                </a:solidFill>
                <a:latin typeface="Verdana"/>
              </a:defRPr>
            </a:pPr>
            <a:r>
              <a:rPr lang="en-US" dirty="0"/>
              <a:t>• 10 </a:t>
            </a:r>
            <a:r>
              <a:rPr lang="en-US" dirty="0" err="1"/>
              <a:t>ve</a:t>
            </a:r>
            <a:r>
              <a:rPr lang="en-US" dirty="0"/>
              <a:t> 20 </a:t>
            </a:r>
            <a:r>
              <a:rPr lang="en-US" dirty="0" err="1"/>
              <a:t>günlük</a:t>
            </a:r>
            <a:r>
              <a:rPr lang="en-US" dirty="0"/>
              <a:t> </a:t>
            </a:r>
            <a:r>
              <a:rPr lang="en-US" dirty="0" err="1"/>
              <a:t>hareketli</a:t>
            </a:r>
            <a:r>
              <a:rPr lang="en-US" dirty="0"/>
              <a:t> </a:t>
            </a:r>
            <a:r>
              <a:rPr lang="en-US" dirty="0" err="1"/>
              <a:t>ortalamaların</a:t>
            </a:r>
            <a:r>
              <a:rPr lang="en-US" dirty="0"/>
              <a:t>, </a:t>
            </a:r>
            <a:r>
              <a:rPr lang="en-US" dirty="0" err="1"/>
              <a:t>kısa</a:t>
            </a:r>
            <a:r>
              <a:rPr lang="en-US" dirty="0"/>
              <a:t> </a:t>
            </a:r>
            <a:r>
              <a:rPr lang="en-US" dirty="0" err="1"/>
              <a:t>vadeli</a:t>
            </a:r>
            <a:r>
              <a:rPr lang="en-US" dirty="0"/>
              <a:t> </a:t>
            </a:r>
            <a:r>
              <a:rPr lang="en-US" dirty="0" err="1"/>
              <a:t>gürültüleri</a:t>
            </a:r>
            <a:r>
              <a:rPr lang="en-US" dirty="0"/>
              <a:t> </a:t>
            </a:r>
            <a:r>
              <a:rPr lang="en-US" dirty="0" err="1"/>
              <a:t>filtreleyerek</a:t>
            </a:r>
            <a:r>
              <a:rPr lang="en-US" dirty="0"/>
              <a:t> trend </a:t>
            </a:r>
            <a:r>
              <a:rPr lang="en-US" dirty="0" err="1"/>
              <a:t>takip</a:t>
            </a:r>
            <a:r>
              <a:rPr lang="en-US" dirty="0"/>
              <a:t> </a:t>
            </a:r>
            <a:r>
              <a:rPr lang="en-US" dirty="0" err="1"/>
              <a:t>etmede</a:t>
            </a:r>
            <a:r>
              <a:rPr lang="en-US" dirty="0"/>
              <a:t> </a:t>
            </a:r>
            <a:r>
              <a:rPr lang="en-US" dirty="0" err="1"/>
              <a:t>en</a:t>
            </a:r>
            <a:r>
              <a:rPr lang="en-US" dirty="0"/>
              <a:t> </a:t>
            </a:r>
            <a:r>
              <a:rPr lang="en-US" dirty="0" err="1"/>
              <a:t>kararlı</a:t>
            </a:r>
            <a:r>
              <a:rPr lang="en-US" dirty="0"/>
              <a:t> </a:t>
            </a:r>
            <a:r>
              <a:rPr lang="en-US" dirty="0" err="1"/>
              <a:t>pencereler</a:t>
            </a:r>
            <a:r>
              <a:rPr lang="en-US" dirty="0"/>
              <a:t> </a:t>
            </a:r>
            <a:r>
              <a:rPr lang="en-US" dirty="0" err="1"/>
              <a:t>olduğunu</a:t>
            </a:r>
            <a:r>
              <a:rPr lang="en-US" dirty="0"/>
              <a:t> </a:t>
            </a:r>
            <a:r>
              <a:rPr lang="en-US" dirty="0" err="1"/>
              <a:t>gördüm</a:t>
            </a:r>
            <a:r>
              <a:rPr lang="en-US" dirty="0"/>
              <a:t>.</a:t>
            </a:r>
          </a:p>
          <a:p>
            <a:pPr indent="-228600" defTabSz="914400">
              <a:lnSpc>
                <a:spcPct val="90000"/>
              </a:lnSpc>
              <a:spcAft>
                <a:spcPts val="400"/>
              </a:spcAft>
              <a:buFont typeface="Arial" panose="020B0604020202020204" pitchFamily="34" charset="0"/>
              <a:buChar char="•"/>
              <a:defRPr sz="1300">
                <a:solidFill>
                  <a:srgbClr val="222D32"/>
                </a:solidFill>
                <a:latin typeface="Verdana"/>
              </a:defRPr>
            </a:pPr>
            <a:r>
              <a:rPr lang="en-US" dirty="0"/>
              <a:t>• </a:t>
            </a:r>
            <a:r>
              <a:rPr lang="en-US" dirty="0" err="1"/>
              <a:t>Teknoloji</a:t>
            </a:r>
            <a:r>
              <a:rPr lang="en-US" dirty="0"/>
              <a:t> </a:t>
            </a:r>
            <a:r>
              <a:rPr lang="en-US" dirty="0" err="1"/>
              <a:t>hisselerinin</a:t>
            </a:r>
            <a:r>
              <a:rPr lang="en-US" dirty="0"/>
              <a:t> </a:t>
            </a:r>
            <a:r>
              <a:rPr lang="en-US" dirty="0" err="1"/>
              <a:t>pozitif</a:t>
            </a:r>
            <a:r>
              <a:rPr lang="en-US" dirty="0"/>
              <a:t> </a:t>
            </a:r>
            <a:r>
              <a:rPr lang="en-US" dirty="0" err="1"/>
              <a:t>korelasyon</a:t>
            </a:r>
            <a:r>
              <a:rPr lang="en-US" dirty="0"/>
              <a:t> </a:t>
            </a:r>
            <a:r>
              <a:rPr lang="en-US" dirty="0" err="1"/>
              <a:t>gösterdiğini</a:t>
            </a:r>
            <a:r>
              <a:rPr lang="en-US" dirty="0"/>
              <a:t> </a:t>
            </a:r>
            <a:r>
              <a:rPr lang="en-US" dirty="0" err="1"/>
              <a:t>ve</a:t>
            </a:r>
            <a:r>
              <a:rPr lang="en-US" dirty="0"/>
              <a:t> </a:t>
            </a:r>
            <a:r>
              <a:rPr lang="en-US" dirty="0" err="1"/>
              <a:t>en</a:t>
            </a:r>
            <a:r>
              <a:rPr lang="en-US" dirty="0"/>
              <a:t> </a:t>
            </a:r>
            <a:r>
              <a:rPr lang="en-US" dirty="0" err="1"/>
              <a:t>güçlü</a:t>
            </a:r>
            <a:r>
              <a:rPr lang="en-US" dirty="0"/>
              <a:t> </a:t>
            </a:r>
            <a:r>
              <a:rPr lang="en-US" dirty="0" err="1"/>
              <a:t>ilişkinin</a:t>
            </a:r>
            <a:r>
              <a:rPr lang="en-US" dirty="0"/>
              <a:t> MSFT - AMZN </a:t>
            </a:r>
            <a:r>
              <a:rPr lang="en-US" dirty="0" err="1"/>
              <a:t>arasında</a:t>
            </a:r>
            <a:r>
              <a:rPr lang="en-US" dirty="0"/>
              <a:t> </a:t>
            </a:r>
            <a:r>
              <a:rPr lang="en-US" dirty="0" err="1"/>
              <a:t>olduğunu</a:t>
            </a:r>
            <a:r>
              <a:rPr lang="en-US" dirty="0"/>
              <a:t> </a:t>
            </a:r>
            <a:r>
              <a:rPr lang="en-US" dirty="0" err="1"/>
              <a:t>veriyle</a:t>
            </a:r>
            <a:r>
              <a:rPr lang="en-US" dirty="0"/>
              <a:t> </a:t>
            </a:r>
            <a:r>
              <a:rPr lang="en-US" dirty="0" err="1"/>
              <a:t>doğruladım</a:t>
            </a:r>
            <a:r>
              <a:rPr lang="en-US" dirty="0"/>
              <a:t>.</a:t>
            </a:r>
          </a:p>
          <a:p>
            <a:pPr indent="-228600" defTabSz="914400">
              <a:lnSpc>
                <a:spcPct val="90000"/>
              </a:lnSpc>
              <a:spcAft>
                <a:spcPts val="400"/>
              </a:spcAft>
              <a:buFont typeface="Arial" panose="020B0604020202020204" pitchFamily="34" charset="0"/>
              <a:buChar char="•"/>
              <a:defRPr sz="1300">
                <a:solidFill>
                  <a:srgbClr val="222D32"/>
                </a:solidFill>
                <a:latin typeface="Verdana"/>
              </a:defRPr>
            </a:pPr>
            <a:r>
              <a:rPr lang="en-US" dirty="0"/>
              <a:t>• </a:t>
            </a:r>
            <a:r>
              <a:rPr lang="en-US" dirty="0" err="1"/>
              <a:t>Beklenen</a:t>
            </a:r>
            <a:r>
              <a:rPr lang="en-US" dirty="0"/>
              <a:t> </a:t>
            </a:r>
            <a:r>
              <a:rPr lang="en-US" dirty="0" err="1"/>
              <a:t>getiri</a:t>
            </a:r>
            <a:r>
              <a:rPr lang="en-US" dirty="0"/>
              <a:t> </a:t>
            </a:r>
            <a:r>
              <a:rPr lang="en-US" dirty="0" err="1"/>
              <a:t>ile</a:t>
            </a:r>
            <a:r>
              <a:rPr lang="en-US" dirty="0"/>
              <a:t> </a:t>
            </a:r>
            <a:r>
              <a:rPr lang="en-US" dirty="0" err="1"/>
              <a:t>oynaklık</a:t>
            </a:r>
            <a:r>
              <a:rPr lang="en-US" dirty="0"/>
              <a:t> (risk) </a:t>
            </a:r>
            <a:r>
              <a:rPr lang="en-US" dirty="0" err="1"/>
              <a:t>dengesinin</a:t>
            </a:r>
            <a:r>
              <a:rPr lang="en-US" dirty="0"/>
              <a:t> </a:t>
            </a:r>
            <a:r>
              <a:rPr lang="en-US" dirty="0" err="1"/>
              <a:t>borsa</a:t>
            </a:r>
            <a:r>
              <a:rPr lang="en-US" dirty="0"/>
              <a:t> </a:t>
            </a:r>
            <a:r>
              <a:rPr lang="en-US" dirty="0" err="1"/>
              <a:t>teorisiyle</a:t>
            </a:r>
            <a:r>
              <a:rPr lang="en-US" dirty="0"/>
              <a:t> </a:t>
            </a:r>
            <a:r>
              <a:rPr lang="en-US" dirty="0" err="1"/>
              <a:t>paralel</a:t>
            </a:r>
            <a:r>
              <a:rPr lang="en-US" dirty="0"/>
              <a:t> </a:t>
            </a:r>
            <a:r>
              <a:rPr lang="en-US" dirty="0" err="1"/>
              <a:t>olduğunu</a:t>
            </a:r>
            <a:r>
              <a:rPr lang="en-US" dirty="0"/>
              <a:t> </a:t>
            </a:r>
            <a:r>
              <a:rPr lang="en-US" dirty="0" err="1"/>
              <a:t>gözlemledim</a:t>
            </a:r>
            <a:r>
              <a:rPr lang="en-US"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914400"/>
          </a:xfrm>
          <a:prstGeom prst="rect">
            <a:avLst/>
          </a:prstGeom>
          <a:noFill/>
        </p:spPr>
        <p:txBody>
          <a:bodyPr wrap="square" lIns="0" tIns="0" rIns="0" bIns="0">
            <a:spAutoFit/>
          </a:bodyPr>
          <a:lstStyle/>
          <a:p>
            <a:pPr>
              <a:defRPr sz="2800" b="1">
                <a:solidFill>
                  <a:srgbClr val="222D32"/>
                </a:solidFill>
                <a:latin typeface="Georgia"/>
              </a:defRPr>
            </a:pPr>
            <a:r>
              <a:t>2. PyTorch ile Veri Hazırlığı ve Veri Hattı (Data Pipeline)</a:t>
            </a:r>
          </a:p>
        </p:txBody>
      </p:sp>
      <p:sp>
        <p:nvSpPr>
          <p:cNvPr id="3" name="Rectangle 2"/>
          <p:cNvSpPr/>
          <p:nvPr/>
        </p:nvSpPr>
        <p:spPr>
          <a:xfrm>
            <a:off x="731520" y="1188720"/>
            <a:ext cx="1371600" cy="381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120640" cy="4389120"/>
          </a:xfrm>
          <a:prstGeom prst="roundRect">
            <a:avLst/>
          </a:prstGeom>
          <a:solidFill>
            <a:srgbClr val="FFFFFF"/>
          </a:solidFill>
          <a:ln w="19050">
            <a:solidFill>
              <a:srgbClr val="008080"/>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000"/>
              </a:spcAft>
              <a:defRPr sz="2000" b="1">
                <a:solidFill>
                  <a:srgbClr val="008080"/>
                </a:solidFill>
                <a:latin typeface="Georgia"/>
              </a:defRPr>
            </a:pPr>
            <a:r>
              <a:t>Ne Yaptım?</a:t>
            </a:r>
          </a:p>
          <a:p>
            <a:pPr>
              <a:spcAft>
                <a:spcPts val="600"/>
              </a:spcAft>
              <a:defRPr sz="1200">
                <a:solidFill>
                  <a:srgbClr val="222D32"/>
                </a:solidFill>
                <a:latin typeface="Verdana"/>
              </a:defRPr>
            </a:pPr>
            <a:r>
              <a:t>• Apple Inc. (AAPL) hissesinin 2012'den günümüze olan geniş tarihsel borsa verisini eğitim için hazırladım.</a:t>
            </a:r>
          </a:p>
          <a:p>
            <a:pPr>
              <a:spcAft>
                <a:spcPts val="600"/>
              </a:spcAft>
              <a:defRPr sz="1200">
                <a:solidFill>
                  <a:srgbClr val="222D32"/>
                </a:solidFill>
                <a:latin typeface="Verdana"/>
              </a:defRPr>
            </a:pPr>
            <a:r>
              <a:t>• Model kararlılığı ve yakınsama için verileri MinMaxScaler kullanarak [0, 1] aralığına normalize ettim.</a:t>
            </a:r>
          </a:p>
          <a:p>
            <a:pPr>
              <a:spcAft>
                <a:spcPts val="600"/>
              </a:spcAft>
              <a:defRPr sz="1200">
                <a:solidFill>
                  <a:srgbClr val="222D32"/>
                </a:solidFill>
                <a:latin typeface="Verdana"/>
              </a:defRPr>
            </a:pPr>
            <a:r>
              <a:t>• Zaman serisinin doğasına uygun olarak, son 60 günlük fiyata bakarak bir sonraki günü tahmin eden Kayan Pencere (Sliding Window) yapısını kurdum.</a:t>
            </a:r>
          </a:p>
          <a:p>
            <a:pPr>
              <a:spcAft>
                <a:spcPts val="600"/>
              </a:spcAft>
              <a:defRPr sz="1200">
                <a:solidFill>
                  <a:srgbClr val="222D32"/>
                </a:solidFill>
                <a:latin typeface="Verdana"/>
              </a:defRPr>
            </a:pPr>
            <a:r>
              <a:t>• Numpy verilerini PyTorch Tensörlerine dönüştürüp, bellek optimizasyonu için batch_size=16 olan DataLoader kurguladım.</a:t>
            </a:r>
          </a:p>
        </p:txBody>
      </p:sp>
      <p:sp>
        <p:nvSpPr>
          <p:cNvPr id="5" name="Rounded Rectangle 4"/>
          <p:cNvSpPr/>
          <p:nvPr/>
        </p:nvSpPr>
        <p:spPr>
          <a:xfrm>
            <a:off x="6217920" y="1645920"/>
            <a:ext cx="5120640" cy="4389120"/>
          </a:xfrm>
          <a:prstGeom prst="roundRect">
            <a:avLst/>
          </a:prstGeom>
          <a:solidFill>
            <a:srgbClr val="FFFFFF"/>
          </a:solidFill>
          <a:ln w="19050">
            <a:solidFill>
              <a:srgbClr val="008080"/>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000"/>
              </a:spcAft>
              <a:defRPr sz="2000" b="1">
                <a:solidFill>
                  <a:srgbClr val="008080"/>
                </a:solidFill>
                <a:latin typeface="Georgia"/>
              </a:defRPr>
            </a:pPr>
            <a:r>
              <a:t>Ne Öğrendim?</a:t>
            </a:r>
          </a:p>
          <a:p>
            <a:pPr>
              <a:spcAft>
                <a:spcPts val="800"/>
              </a:spcAft>
              <a:defRPr sz="1250">
                <a:solidFill>
                  <a:srgbClr val="222D32"/>
                </a:solidFill>
                <a:latin typeface="Verdana"/>
              </a:defRPr>
            </a:pPr>
            <a:r>
              <a:t>• Ölçeklendirmenin Kritik Rolü: Borsa gibi varyansı yüksek verilerde normalizasyon yapılmadığında gradyanların saptığını ve modelin öğrenemediğini bizzat deneyimledim.</a:t>
            </a:r>
          </a:p>
          <a:p>
            <a:pPr>
              <a:spcAft>
                <a:spcPts val="800"/>
              </a:spcAft>
              <a:defRPr sz="1250">
                <a:solidFill>
                  <a:srgbClr val="222D32"/>
                </a:solidFill>
                <a:latin typeface="Verdana"/>
              </a:defRPr>
            </a:pPr>
            <a:r>
              <a:t>• Düşük Seviyeli Kontrol: Hazır kütüphanelerin arka planda gizlediği tensör dönüşümlerini, pencerelemeyi ve DataLoader nesnelerini PyTorch ile manuel yazarak veri akışının teorik mantığını kavradım.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Arc 13">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extBox 1"/>
          <p:cNvSpPr txBox="1"/>
          <p:nvPr/>
        </p:nvSpPr>
        <p:spPr>
          <a:xfrm>
            <a:off x="5894962" y="479493"/>
            <a:ext cx="5458838" cy="1325563"/>
          </a:xfrm>
          <a:prstGeom prst="rect">
            <a:avLst/>
          </a:prstGeom>
        </p:spPr>
        <p:txBody>
          <a:bodyPr vert="horz" lIns="91440" tIns="45720" rIns="91440" bIns="45720" rtlCol="0" anchor="ctr">
            <a:normAutofit/>
          </a:bodyPr>
          <a:lstStyle/>
          <a:p>
            <a:pPr defTabSz="914400">
              <a:lnSpc>
                <a:spcPct val="90000"/>
              </a:lnSpc>
              <a:spcBef>
                <a:spcPct val="0"/>
              </a:spcBef>
              <a:spcAft>
                <a:spcPts val="600"/>
              </a:spcAft>
              <a:defRPr sz="2800" b="1">
                <a:solidFill>
                  <a:srgbClr val="222D32"/>
                </a:solidFill>
                <a:latin typeface="Georgia"/>
              </a:defRPr>
            </a:pPr>
            <a:r>
              <a:rPr lang="en-US" sz="3100" kern="1200">
                <a:solidFill>
                  <a:schemeClr val="tx1"/>
                </a:solidFill>
                <a:latin typeface="+mj-lt"/>
                <a:ea typeface="+mj-ea"/>
                <a:cs typeface="+mj-cs"/>
              </a:rPr>
              <a:t>3. Derin Öğrenme Modellemesi: LSTM vs. GRU Karşılaştırması</a:t>
            </a:r>
          </a:p>
        </p:txBody>
      </p:sp>
      <p:sp>
        <p:nvSpPr>
          <p:cNvPr id="16" name="Freeform: Shape 15">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2B3C9533-A0DF-A57C-DC25-A7048AE6636B}"/>
              </a:ext>
            </a:extLst>
          </p:cNvPr>
          <p:cNvPicPr>
            <a:picLocks noChangeAspect="1"/>
          </p:cNvPicPr>
          <p:nvPr/>
        </p:nvPicPr>
        <p:blipFill>
          <a:blip r:embed="rId3"/>
          <a:stretch>
            <a:fillRect/>
          </a:stretch>
        </p:blipFill>
        <p:spPr>
          <a:xfrm>
            <a:off x="375238" y="1634459"/>
            <a:ext cx="5309055" cy="325144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4" name="TextBox 3"/>
          <p:cNvSpPr txBox="1"/>
          <p:nvPr/>
        </p:nvSpPr>
        <p:spPr>
          <a:xfrm>
            <a:off x="5894962" y="1984443"/>
            <a:ext cx="5458838" cy="4192520"/>
          </a:xfrm>
          <a:prstGeom prst="rect">
            <a:avLst/>
          </a:prstGeom>
        </p:spPr>
        <p:txBody>
          <a:bodyPr vert="horz" lIns="91440" tIns="45720" rIns="91440" bIns="45720" rtlCol="0">
            <a:normAutofit fontScale="85000" lnSpcReduction="10000"/>
          </a:bodyPr>
          <a:lstStyle/>
          <a:p>
            <a:pPr indent="-228600" defTabSz="914400">
              <a:lnSpc>
                <a:spcPct val="90000"/>
              </a:lnSpc>
              <a:spcAft>
                <a:spcPts val="600"/>
              </a:spcAft>
              <a:buFont typeface="Arial" panose="020B0604020202020204" pitchFamily="34" charset="0"/>
              <a:buChar char="•"/>
              <a:defRPr sz="2000" b="1">
                <a:solidFill>
                  <a:srgbClr val="008080"/>
                </a:solidFill>
                <a:latin typeface="Georgia"/>
              </a:defRPr>
            </a:pPr>
            <a:r>
              <a:rPr lang="en-US" sz="1700"/>
              <a:t>Ne Yaptım?</a:t>
            </a:r>
          </a:p>
          <a:p>
            <a:pPr indent="-228600" defTabSz="914400">
              <a:lnSpc>
                <a:spcPct val="90000"/>
              </a:lnSpc>
              <a:spcAft>
                <a:spcPts val="400"/>
              </a:spcAft>
              <a:buFont typeface="Arial" panose="020B0604020202020204" pitchFamily="34" charset="0"/>
              <a:buChar char="•"/>
              <a:defRPr sz="1300">
                <a:solidFill>
                  <a:srgbClr val="222D32"/>
                </a:solidFill>
                <a:latin typeface="Verdana"/>
              </a:defRPr>
            </a:pPr>
            <a:r>
              <a:rPr lang="en-US" sz="1700"/>
              <a:t>• Sıralı zaman serilerindeki uzun vadeli örüntüleri yakalamak üzere iki ana mimari olan LSTM ve GRU modellerini inceledim.</a:t>
            </a:r>
          </a:p>
          <a:p>
            <a:pPr indent="-228600" defTabSz="914400">
              <a:lnSpc>
                <a:spcPct val="90000"/>
              </a:lnSpc>
              <a:spcAft>
                <a:spcPts val="400"/>
              </a:spcAft>
              <a:buFont typeface="Arial" panose="020B0604020202020204" pitchFamily="34" charset="0"/>
              <a:buChar char="•"/>
              <a:defRPr sz="1300">
                <a:solidFill>
                  <a:srgbClr val="222D32"/>
                </a:solidFill>
                <a:latin typeface="Verdana"/>
              </a:defRPr>
            </a:pPr>
            <a:r>
              <a:rPr lang="en-US" sz="1700"/>
              <a:t>• PyTorch ile ardışık iki yinelemeli katman (sırasıyla 128 ve 64 gizli hücreli) ve çıkışta tam bağlantılı doğrusal katmanlardan oluşan derin mimariyi tasarladım.</a:t>
            </a:r>
          </a:p>
          <a:p>
            <a:pPr indent="-228600" defTabSz="914400">
              <a:lnSpc>
                <a:spcPct val="90000"/>
              </a:lnSpc>
              <a:spcAft>
                <a:spcPts val="400"/>
              </a:spcAft>
              <a:buFont typeface="Arial" panose="020B0604020202020204" pitchFamily="34" charset="0"/>
              <a:buChar char="•"/>
              <a:defRPr sz="1300">
                <a:solidFill>
                  <a:srgbClr val="222D32"/>
                </a:solidFill>
                <a:latin typeface="Verdana"/>
              </a:defRPr>
            </a:pPr>
            <a:r>
              <a:rPr lang="en-US" sz="1700"/>
              <a:t>• Hata fonksiyonu olarak Ortalama Kare Hata (MSELoss) ve gradyan güncellemeleri için Adam optimizasyonunu kurguladım.</a:t>
            </a:r>
          </a:p>
          <a:p>
            <a:pPr indent="-228600" defTabSz="914400">
              <a:lnSpc>
                <a:spcPct val="90000"/>
              </a:lnSpc>
              <a:spcBef>
                <a:spcPts val="1200"/>
              </a:spcBef>
              <a:spcAft>
                <a:spcPts val="600"/>
              </a:spcAft>
              <a:buFont typeface="Arial" panose="020B0604020202020204" pitchFamily="34" charset="0"/>
              <a:buChar char="•"/>
              <a:defRPr sz="2000" b="1">
                <a:solidFill>
                  <a:srgbClr val="008080"/>
                </a:solidFill>
                <a:latin typeface="Georgia"/>
              </a:defRPr>
            </a:pPr>
            <a:r>
              <a:rPr lang="en-US" sz="1700"/>
              <a:t>Ne Öğrendim?</a:t>
            </a:r>
          </a:p>
          <a:p>
            <a:pPr indent="-228600" defTabSz="914400">
              <a:lnSpc>
                <a:spcPct val="90000"/>
              </a:lnSpc>
              <a:spcAft>
                <a:spcPts val="400"/>
              </a:spcAft>
              <a:buFont typeface="Arial" panose="020B0604020202020204" pitchFamily="34" charset="0"/>
              <a:buChar char="•"/>
              <a:defRPr sz="1300">
                <a:solidFill>
                  <a:srgbClr val="222D32"/>
                </a:solidFill>
                <a:latin typeface="Verdana"/>
              </a:defRPr>
            </a:pPr>
            <a:r>
              <a:rPr lang="en-US" sz="1700"/>
              <a:t>• LSTM 'Hücre Durumu' (Cell State) sayesinde uzun vadeli borsa trendlerini korumada oldukça başarılıdır.</a:t>
            </a:r>
          </a:p>
          <a:p>
            <a:pPr indent="-228600" defTabSz="914400">
              <a:lnSpc>
                <a:spcPct val="90000"/>
              </a:lnSpc>
              <a:spcAft>
                <a:spcPts val="400"/>
              </a:spcAft>
              <a:buFont typeface="Arial" panose="020B0604020202020204" pitchFamily="34" charset="0"/>
              <a:buChar char="•"/>
              <a:defRPr sz="1300">
                <a:solidFill>
                  <a:srgbClr val="222D32"/>
                </a:solidFill>
                <a:latin typeface="Verdana"/>
              </a:defRPr>
            </a:pPr>
            <a:r>
              <a:rPr lang="en-US" sz="1700"/>
              <a:t>• GRU hücre durumu taşımayıp sadece 'Gizli Durum' (Hidden State) kullandığı için daha az parametrelidir ve belirgin derecede daha hızlı eğitilir.</a:t>
            </a:r>
          </a:p>
          <a:p>
            <a:pPr indent="-228600" defTabSz="914400">
              <a:lnSpc>
                <a:spcPct val="90000"/>
              </a:lnSpc>
              <a:spcAft>
                <a:spcPts val="400"/>
              </a:spcAft>
              <a:buFont typeface="Arial" panose="020B0604020202020204" pitchFamily="34" charset="0"/>
              <a:buChar char="•"/>
              <a:defRPr sz="1300">
                <a:solidFill>
                  <a:srgbClr val="222D32"/>
                </a:solidFill>
                <a:latin typeface="Verdana"/>
              </a:defRPr>
            </a:pPr>
            <a:r>
              <a:rPr lang="en-US" sz="1700"/>
              <a:t>• Kaotik borsa verilerinde mimari seçimi yaparken eğitim süresi ile bilgi saklama kapasitesi arasındaki dengeyi pratik ettim.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914400"/>
          </a:xfrm>
          <a:prstGeom prst="rect">
            <a:avLst/>
          </a:prstGeom>
          <a:noFill/>
        </p:spPr>
        <p:txBody>
          <a:bodyPr wrap="square" lIns="0" tIns="0" rIns="0" bIns="0">
            <a:spAutoFit/>
          </a:bodyPr>
          <a:lstStyle/>
          <a:p>
            <a:pPr>
              <a:defRPr sz="2800" b="1">
                <a:solidFill>
                  <a:srgbClr val="222D32"/>
                </a:solidFill>
                <a:latin typeface="Georgia"/>
              </a:defRPr>
            </a:pPr>
            <a:r>
              <a:t>4. Proje Kazanımları ve Gelecek Yol Haritası</a:t>
            </a:r>
          </a:p>
        </p:txBody>
      </p:sp>
      <p:sp>
        <p:nvSpPr>
          <p:cNvPr id="3" name="Rectangle 2"/>
          <p:cNvSpPr/>
          <p:nvPr/>
        </p:nvSpPr>
        <p:spPr>
          <a:xfrm>
            <a:off x="731520" y="1188720"/>
            <a:ext cx="1371600" cy="381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645920"/>
            <a:ext cx="5120640" cy="4572000"/>
          </a:xfrm>
          <a:prstGeom prst="rect">
            <a:avLst/>
          </a:prstGeom>
          <a:noFill/>
        </p:spPr>
        <p:txBody>
          <a:bodyPr wrap="square" lIns="0" tIns="0" rIns="0" bIns="0">
            <a:spAutoFit/>
          </a:bodyPr>
          <a:lstStyle/>
          <a:p>
            <a:pPr>
              <a:spcAft>
                <a:spcPts val="1000"/>
              </a:spcAft>
              <a:defRPr sz="2000" b="1">
                <a:solidFill>
                  <a:srgbClr val="008080"/>
                </a:solidFill>
                <a:latin typeface="Georgia"/>
              </a:defRPr>
            </a:pPr>
            <a:r>
              <a:t>Temel Kazanımlarım</a:t>
            </a:r>
          </a:p>
          <a:p>
            <a:pPr>
              <a:spcAft>
                <a:spcPts val="600"/>
              </a:spcAft>
              <a:defRPr sz="1200">
                <a:solidFill>
                  <a:srgbClr val="222D32"/>
                </a:solidFill>
                <a:latin typeface="Verdana"/>
              </a:defRPr>
            </a:pPr>
            <a:r>
              <a:t>• Uçtan Uca Proje Deneyimi: Veri çekme, ön işleme, zaman serisi pencereleri kurgulama, PyTorch model tasarımı ve eğitimi aşamalarının tamamını kapsayan bütüncül bir yapay zeka hattı inşa ettim.</a:t>
            </a:r>
          </a:p>
          <a:p>
            <a:pPr>
              <a:spcAft>
                <a:spcPts val="600"/>
              </a:spcAft>
              <a:defRPr sz="1200">
                <a:solidFill>
                  <a:srgbClr val="222D32"/>
                </a:solidFill>
                <a:latin typeface="Verdana"/>
              </a:defRPr>
            </a:pPr>
            <a:r>
              <a:t>• Teori - Pratik Bütünleşmesi: Sınıfta teorik olarak ele aldığımız yinelemeli sinir ağlarının (RNN) gerçek dünya kaotik borsa verilerinde nasıl canlandığını ve borsa tahmininin zorluklarını bizzat deneyimledim.</a:t>
            </a:r>
          </a:p>
          <a:p>
            <a:pPr>
              <a:spcAft>
                <a:spcPts val="600"/>
              </a:spcAft>
              <a:defRPr sz="1200">
                <a:solidFill>
                  <a:srgbClr val="222D32"/>
                </a:solidFill>
                <a:latin typeface="Verdana"/>
              </a:defRPr>
            </a:pPr>
            <a:r>
              <a:t>• Hiperparametre Duyarlılığı: Başarının sadece model katman derinliğinden ibaret olmadığını; öğrenme oranı, batch boyutu ve pencere uzunluğunun kaybı doğrudan belirlediğini fark ettim.</a:t>
            </a:r>
          </a:p>
        </p:txBody>
      </p:sp>
      <p:sp>
        <p:nvSpPr>
          <p:cNvPr id="5" name="TextBox 4"/>
          <p:cNvSpPr txBox="1"/>
          <p:nvPr/>
        </p:nvSpPr>
        <p:spPr>
          <a:xfrm>
            <a:off x="6217920" y="1645920"/>
            <a:ext cx="5120640" cy="4572000"/>
          </a:xfrm>
          <a:prstGeom prst="rect">
            <a:avLst/>
          </a:prstGeom>
          <a:noFill/>
        </p:spPr>
        <p:txBody>
          <a:bodyPr wrap="square" lIns="0" tIns="0" rIns="0" bIns="0">
            <a:spAutoFit/>
          </a:bodyPr>
          <a:lstStyle/>
          <a:p>
            <a:pPr>
              <a:spcAft>
                <a:spcPts val="1000"/>
              </a:spcAft>
              <a:defRPr sz="2000" b="1">
                <a:solidFill>
                  <a:srgbClr val="008080"/>
                </a:solidFill>
                <a:latin typeface="Georgia"/>
              </a:defRPr>
            </a:pPr>
            <a:r>
              <a:t>Gelecek Yol Haritası (Geliştirmeler)</a:t>
            </a:r>
          </a:p>
          <a:p>
            <a:pPr>
              <a:spcAft>
                <a:spcPts val="600"/>
              </a:spcAft>
              <a:defRPr sz="1200">
                <a:solidFill>
                  <a:srgbClr val="222D32"/>
                </a:solidFill>
                <a:latin typeface="Verdana"/>
              </a:defRPr>
            </a:pPr>
            <a:r>
              <a:t>• Epoch Sayısının Artırılması: Eğitim aşamasındaki konsept doğrulaması (1 epoch) sonrasında daha derin ve yüksek epoch sayılı eğitimlerin yapılması.</a:t>
            </a:r>
          </a:p>
          <a:p>
            <a:pPr>
              <a:spcAft>
                <a:spcPts val="600"/>
              </a:spcAft>
              <a:defRPr sz="1200">
                <a:solidFill>
                  <a:srgbClr val="222D32"/>
                </a:solidFill>
                <a:latin typeface="Verdana"/>
              </a:defRPr>
            </a:pPr>
            <a:r>
              <a:t>• Çok Değişkenli (Multivariate) Yapı: Modele sadece geçmiş borsa fiyatını değil, aynı zamanda işlem hacmi (Volume), RSI ve MACD gibi önemli teknik indikatörleri de ekleyerek girdi kalitesini yükseltmek.</a:t>
            </a:r>
          </a:p>
          <a:p>
            <a:pPr>
              <a:spcAft>
                <a:spcPts val="600"/>
              </a:spcAft>
              <a:defRPr sz="1200">
                <a:solidFill>
                  <a:srgbClr val="222D32"/>
                </a:solidFill>
                <a:latin typeface="Verdana"/>
              </a:defRPr>
            </a:pPr>
            <a:r>
              <a:t>• Transformatör Mimarıleri: Borsa zaman serilerinde son yıllarda popülerleşen Dikkat (Attention) mekanizmalı Transformer modellerini entegre etmek.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1094</Words>
  <Application>Microsoft Office PowerPoint</Application>
  <PresentationFormat>Widescreen</PresentationFormat>
  <Paragraphs>45</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selin sur</cp:lastModifiedBy>
  <cp:revision>2</cp:revision>
  <dcterms:created xsi:type="dcterms:W3CDTF">2013-01-27T09:14:16Z</dcterms:created>
  <dcterms:modified xsi:type="dcterms:W3CDTF">2026-08-18T16:38:29Z</dcterms:modified>
  <cp:category/>
</cp:coreProperties>
</file>